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1695" cy="6858000" type="screen4x3"/>
  <p:notesSz cx="6858000" cy="9144000"/>
  <p:defaultTextStyle>
    <a:defPPr>
      <a:defRPr lang="en-US"/>
    </a:defPPr>
    <a:lvl1pPr marL="0" algn="l">
      <a:defRPr sz="1800"/>
    </a:lvl1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 w="19050"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 Display"/>
              </a:rPr>
              <a:t>LLMR Architecture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658368" y="1097280"/>
            <a:ext cx="6583680" cy="365760"/>
          </a:xfrm>
          <a:prstGeom prst="rect">
            <a:avLst/>
          </a:prstGeom>
          <a:noFill/>
          <a:ln w="19050"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0">
                <a:solidFill>
                  <a:srgbClr val="93C5FD"/>
                </a:solidFill>
                <a:latin typeface="Aptos"/>
              </a:rPr>
              <a:t>Natural language or underspecified match -&gt; executable action + queryable semantics</a:t>
            </a:r>
          </a:p>
        </p:txBody>
      </p:sp>
      <p:sp>
        <p:nvSpPr>
          <p:cNvPr id="5" name="Block 5"/>
          <p:cNvSpPr/>
          <p:nvPr/>
        </p:nvSpPr>
        <p:spPr>
          <a:xfrm>
            <a:off x="822960" y="1828800"/>
            <a:ext cx="1920240" cy="9144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Input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instruction or match</a:t>
            </a:r>
          </a:p>
        </p:txBody>
      </p:sp>
      <p:sp>
        <p:nvSpPr>
          <p:cNvPr id="6" name="Block 6"/>
          <p:cNvSpPr/>
          <p:nvPr/>
        </p:nvSpPr>
        <p:spPr>
          <a:xfrm>
            <a:off x="3063240" y="1828800"/>
            <a:ext cx="2468880" cy="9144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LLMBackend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resolve + ground + construct action</a:t>
            </a:r>
          </a:p>
        </p:txBody>
      </p:sp>
      <p:sp>
        <p:nvSpPr>
          <p:cNvPr id="7" name="Block 7"/>
          <p:cNvSpPr/>
          <p:nvPr/>
        </p:nvSpPr>
        <p:spPr>
          <a:xfrm>
            <a:off x="5897880" y="1828800"/>
            <a:ext cx="2011680" cy="91440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Reasoners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pluggable semantic modules</a:t>
            </a:r>
          </a:p>
        </p:txBody>
      </p:sp>
      <p:sp>
        <p:nvSpPr>
          <p:cNvPr id="8" name="Block 8"/>
          <p:cNvSpPr/>
          <p:nvPr/>
        </p:nvSpPr>
        <p:spPr>
          <a:xfrm>
            <a:off x="8229600" y="1828800"/>
            <a:ext cx="1920240" cy="91440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sg_model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first-class entities</a:t>
            </a:r>
          </a:p>
        </p:txBody>
      </p:sp>
      <p:sp>
        <p:nvSpPr>
          <p:cNvPr id="9" name="Block 9"/>
          <p:cNvSpPr/>
          <p:nvPr/>
        </p:nvSpPr>
        <p:spPr>
          <a:xfrm>
            <a:off x="10469880" y="1828800"/>
            <a:ext cx="960120" cy="914400"/>
          </a:xfrm>
          <a:prstGeom prst="roundRect">
            <a:avLst/>
          </a:prstGeom>
          <a:solidFill>
            <a:srgbClr val="DB2777"/>
          </a:solidFill>
          <a:ln w="12700">
            <a:solidFill>
              <a:srgbClr val="DB2777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EQL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query</a:t>
            </a:r>
          </a:p>
        </p:txBody>
      </p:sp>
      <p:cxnSp>
        <p:nvCxnSpPr>
          <p:cNvPr id="10" name="Arrow 10"/>
          <p:cNvCxnSpPr/>
          <p:nvPr/>
        </p:nvCxnSpPr>
        <p:spPr>
          <a:xfrm flipH="0" flipV="0">
            <a:off x="2743200" y="2286000"/>
            <a:ext cx="274320" cy="1"/>
          </a:xfrm>
          <a:prstGeom prst="straightConnector1">
            <a:avLst/>
          </a:prstGeom>
          <a:ln w="31750" cap="rnd">
            <a:solidFill>
              <a:srgbClr val="38BDF8"/>
            </a:solidFill>
            <a:headEnd type="triangle" w="med" len="med"/>
          </a:ln>
        </p:spPr>
      </p:cxnSp>
      <p:cxnSp>
        <p:nvCxnSpPr>
          <p:cNvPr id="11" name="Arrow 11"/>
          <p:cNvCxnSpPr/>
          <p:nvPr/>
        </p:nvCxnSpPr>
        <p:spPr>
          <a:xfrm flipH="0" flipV="0">
            <a:off x="5532120" y="2286000"/>
            <a:ext cx="320040" cy="1"/>
          </a:xfrm>
          <a:prstGeom prst="straightConnector1">
            <a:avLst/>
          </a:prstGeom>
          <a:ln w="31750" cap="rnd">
            <a:solidFill>
              <a:srgbClr val="38BDF8"/>
            </a:solidFill>
            <a:headEnd type="triangle" w="med" len="med"/>
          </a:ln>
        </p:spPr>
      </p:cxnSp>
      <p:cxnSp>
        <p:nvCxnSpPr>
          <p:cNvPr id="12" name="Arrow 12"/>
          <p:cNvCxnSpPr/>
          <p:nvPr/>
        </p:nvCxnSpPr>
        <p:spPr>
          <a:xfrm flipH="0" flipV="0">
            <a:off x="7909560" y="2286000"/>
            <a:ext cx="274319" cy="1"/>
          </a:xfrm>
          <a:prstGeom prst="straightConnector1">
            <a:avLst/>
          </a:prstGeom>
          <a:ln w="31750" cap="rnd">
            <a:solidFill>
              <a:srgbClr val="38BDF8"/>
            </a:solidFill>
            <a:headEnd type="triangle" w="med" len="med"/>
          </a:ln>
        </p:spPr>
      </p:cxnSp>
      <p:cxnSp>
        <p:nvCxnSpPr>
          <p:cNvPr id="13" name="Arrow 13"/>
          <p:cNvCxnSpPr/>
          <p:nvPr/>
        </p:nvCxnSpPr>
        <p:spPr>
          <a:xfrm flipH="0" flipV="0">
            <a:off x="10149840" y="2286000"/>
            <a:ext cx="274320" cy="1"/>
          </a:xfrm>
          <a:prstGeom prst="straightConnector1">
            <a:avLst/>
          </a:prstGeom>
          <a:ln w="31750" cap="rnd">
            <a:solidFill>
              <a:srgbClr val="F472B6"/>
            </a:solidFill>
            <a:headEnd type="triangle" w="med" len="med"/>
          </a:ln>
        </p:spPr>
      </p:cxnSp>
      <p:sp>
        <p:nvSpPr>
          <p:cNvPr id="14" name="Card 14"/>
          <p:cNvSpPr/>
          <p:nvPr/>
        </p:nvSpPr>
        <p:spPr>
          <a:xfrm>
            <a:off x="822960" y="3657600"/>
            <a:ext cx="338328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D4ED8"/>
            </a:solidFill>
          </a:ln>
        </p:spPr>
        <p:txBody>
          <a:bodyPr wrap="square" lIns="114300" tIns="91440" rIns="114300" bIns="91440"/>
          <a:lstStyle/>
          <a:p>
            <a:pPr algn="l"/>
            <a:r>
              <a:rPr lang="en-US" sz="2100" b="1">
                <a:solidFill>
                  <a:srgbClr val="F8FAFC"/>
                </a:solidFill>
                <a:latin typeface="Aptos Display"/>
              </a:rPr>
              <a:t>Execution Path</a:t>
            </a:r>
          </a:p>
          <a:p>
            <a:pPr algn="l" marL="0"/>
            <a:r>
              <a:rPr lang="en-US" sz="1300">
                <a:solidFill>
                  <a:srgbClr val="CBD5E1"/>
                </a:solidFill>
                <a:latin typeface="Aptos"/>
              </a:rPr>
              <a:t>Resolve missing slots from language + world state</a:t>
            </a:r>
          </a:p>
          <a:p>
            <a:pPr algn="l" marL="0"/>
            <a:r>
              <a:rPr lang="en-US" sz="1300">
                <a:solidFill>
                  <a:srgbClr val="CBD5E1"/>
                </a:solidFill>
                <a:latin typeface="Aptos"/>
              </a:rPr>
              <a:t>Ground resolved references to concrete world objects</a:t>
            </a:r>
          </a:p>
          <a:p>
            <a:pPr algn="l" marL="0"/>
            <a:r>
              <a:rPr lang="en-US" sz="1300">
                <a:solidFill>
                  <a:srgbClr val="CBD5E1"/>
                </a:solidFill>
                <a:latin typeface="Aptos"/>
              </a:rPr>
              <a:t>Return an executable action instance</a:t>
            </a:r>
          </a:p>
        </p:txBody>
      </p:sp>
      <p:sp>
        <p:nvSpPr>
          <p:cNvPr id="15" name="Card 15"/>
          <p:cNvSpPr/>
          <p:nvPr/>
        </p:nvSpPr>
        <p:spPr>
          <a:xfrm>
            <a:off x="4389120" y="3657600"/>
            <a:ext cx="338328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7C3AED"/>
            </a:solidFill>
          </a:ln>
        </p:spPr>
        <p:txBody>
          <a:bodyPr wrap="square" lIns="114300" tIns="91440" rIns="114300" bIns="91440"/>
          <a:lstStyle/>
          <a:p>
            <a:pPr algn="l"/>
            <a:r>
              <a:rPr lang="en-US" sz="2100" b="1">
                <a:solidFill>
                  <a:srgbClr val="F8FAFC"/>
                </a:solidFill>
                <a:latin typeface="Aptos Display"/>
              </a:rPr>
              <a:t>Semantic Path</a:t>
            </a:r>
          </a:p>
          <a:p>
            <a:pPr algn="l" marL="0"/>
            <a:r>
              <a:rPr lang="en-US" sz="1300">
                <a:solidFill>
                  <a:srgbClr val="CBD5E1"/>
                </a:solidFill>
                <a:latin typeface="Aptos"/>
              </a:rPr>
              <a:t>Run multiple reasoners on the same context</a:t>
            </a:r>
          </a:p>
          <a:p>
            <a:pPr algn="l" marL="0"/>
            <a:r>
              <a:rPr lang="en-US" sz="1300">
                <a:solidFill>
                  <a:srgbClr val="CBD5E1"/>
                </a:solidFill>
                <a:latin typeface="Aptos"/>
              </a:rPr>
              <a:t>Produce frame, role, plan, phase, failure, recovery claims</a:t>
            </a:r>
          </a:p>
          <a:p>
            <a:pPr algn="l" marL="0"/>
            <a:r>
              <a:rPr lang="en-US" sz="1300">
                <a:solidFill>
                  <a:srgbClr val="CBD5E1"/>
                </a:solidFill>
                <a:latin typeface="Aptos"/>
              </a:rPr>
              <a:t>Keep them anchored to instruction / action / run</a:t>
            </a:r>
          </a:p>
        </p:txBody>
      </p:sp>
      <p:sp>
        <p:nvSpPr>
          <p:cNvPr id="16" name="Card 16"/>
          <p:cNvSpPr/>
          <p:nvPr/>
        </p:nvSpPr>
        <p:spPr>
          <a:xfrm>
            <a:off x="7955279" y="3657600"/>
            <a:ext cx="347472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6A34A"/>
            </a:solidFill>
          </a:ln>
        </p:spPr>
        <p:txBody>
          <a:bodyPr wrap="square" lIns="114300" tIns="91440" rIns="114300" bIns="91440"/>
          <a:lstStyle/>
          <a:p>
            <a:pPr algn="l"/>
            <a:r>
              <a:rPr lang="en-US" sz="2100" b="1">
                <a:solidFill>
                  <a:srgbClr val="F8FAFC"/>
                </a:solidFill>
                <a:latin typeface="Aptos Display"/>
              </a:rPr>
              <a:t>Query Path</a:t>
            </a:r>
          </a:p>
          <a:p>
            <a:pPr algn="l" marL="0"/>
            <a:r>
              <a:rPr lang="en-US" sz="1300">
                <a:solidFill>
                  <a:srgbClr val="CBD5E1"/>
                </a:solidFill>
                <a:latin typeface="Aptos"/>
              </a:rPr>
              <a:t>EQL ranges over typed domains from sg_model</a:t>
            </a:r>
          </a:p>
          <a:p>
            <a:pPr algn="l" marL="0"/>
            <a:r>
              <a:rPr lang="en-US" sz="1300">
                <a:solidFill>
                  <a:srgbClr val="CBD5E1"/>
                </a:solidFill>
                <a:latin typeface="Aptos"/>
              </a:rPr>
              <a:t>Object references are the primary semantics</a:t>
            </a:r>
          </a:p>
          <a:p>
            <a:pPr algn="l" marL="0"/>
            <a:r>
              <a:rPr lang="en-US" sz="1300">
                <a:solidFill>
                  <a:srgbClr val="CBD5E1"/>
                </a:solidFill>
                <a:latin typeface="Aptos"/>
              </a:rPr>
              <a:t>Presentation graph is derived only when needed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 w="19050"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F8FAFC"/>
                </a:solidFill>
                <a:latin typeface="Aptos Display"/>
              </a:rPr>
              <a:t>Clean Component View</a:t>
            </a:r>
          </a:p>
        </p:txBody>
      </p:sp>
      <p:sp>
        <p:nvSpPr>
          <p:cNvPr id="4" name="Block 4"/>
          <p:cNvSpPr/>
          <p:nvPr/>
        </p:nvSpPr>
        <p:spPr>
          <a:xfrm>
            <a:off x="822960" y="1554480"/>
            <a:ext cx="228600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Perception + World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views
symbols
match snapshot
current action context</a:t>
            </a:r>
          </a:p>
        </p:txBody>
      </p:sp>
      <p:sp>
        <p:nvSpPr>
          <p:cNvPr id="5" name="Block 5"/>
          <p:cNvSpPr/>
          <p:nvPr/>
        </p:nvSpPr>
        <p:spPr>
          <a:xfrm>
            <a:off x="3657600" y="1554480"/>
            <a:ext cx="2560320" cy="34747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LLMBackend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decompose instruction
fill missing slots
ground candidates
create executable action</a:t>
            </a:r>
          </a:p>
        </p:txBody>
      </p:sp>
      <p:sp>
        <p:nvSpPr>
          <p:cNvPr id="6" name="Block 6"/>
          <p:cNvSpPr/>
          <p:nvPr/>
        </p:nvSpPr>
        <p:spPr>
          <a:xfrm>
            <a:off x="6858000" y="1280160"/>
            <a:ext cx="2011680" cy="118872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Executable Action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pickup with resolved references</a:t>
            </a:r>
          </a:p>
        </p:txBody>
      </p:sp>
      <p:sp>
        <p:nvSpPr>
          <p:cNvPr id="7" name="Block 7"/>
          <p:cNvSpPr/>
          <p:nvPr/>
        </p:nvSpPr>
        <p:spPr>
          <a:xfrm>
            <a:off x="6858000" y="2926080"/>
            <a:ext cx="2011680" cy="118872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Reasoner Context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instruction + match + world + resolved slots</a:t>
            </a:r>
          </a:p>
        </p:txBody>
      </p:sp>
      <p:sp>
        <p:nvSpPr>
          <p:cNvPr id="8" name="Block 8"/>
          <p:cNvSpPr/>
          <p:nvPr/>
        </p:nvSpPr>
        <p:spPr>
          <a:xfrm>
            <a:off x="9418320" y="1280160"/>
            <a:ext cx="1828800" cy="118872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Reasoners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FrameNet
Flanagan</a:t>
            </a:r>
          </a:p>
        </p:txBody>
      </p:sp>
      <p:sp>
        <p:nvSpPr>
          <p:cNvPr id="9" name="Block 9"/>
          <p:cNvSpPr/>
          <p:nvPr/>
        </p:nvSpPr>
        <p:spPr>
          <a:xfrm>
            <a:off x="9418320" y="2926080"/>
            <a:ext cx="1828800" cy="118872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sg_model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typed semantic repository</a:t>
            </a:r>
          </a:p>
        </p:txBody>
      </p:sp>
      <p:cxnSp>
        <p:nvCxnSpPr>
          <p:cNvPr id="10" name="Arrow 10"/>
          <p:cNvCxnSpPr/>
          <p:nvPr/>
        </p:nvCxnSpPr>
        <p:spPr>
          <a:xfrm flipH="0" flipV="0">
            <a:off x="3154680" y="3246120"/>
            <a:ext cx="457200" cy="1"/>
          </a:xfrm>
          <a:prstGeom prst="straightConnector1">
            <a:avLst/>
          </a:prstGeom>
          <a:ln w="31750" cap="rnd">
            <a:solidFill>
              <a:srgbClr val="38BDF8"/>
            </a:solidFill>
            <a:headEnd type="triangle" w="med" len="med"/>
          </a:ln>
        </p:spPr>
      </p:cxnSp>
      <p:cxnSp>
        <p:nvCxnSpPr>
          <p:cNvPr id="11" name="Arrow 11"/>
          <p:cNvCxnSpPr/>
          <p:nvPr/>
        </p:nvCxnSpPr>
        <p:spPr>
          <a:xfrm flipH="0" flipV="0">
            <a:off x="6263640" y="1874519"/>
            <a:ext cx="548640" cy="1"/>
          </a:xfrm>
          <a:prstGeom prst="straightConnector1">
            <a:avLst/>
          </a:prstGeom>
          <a:ln w="31750" cap="rnd">
            <a:solidFill>
              <a:srgbClr val="34D399"/>
            </a:solidFill>
            <a:headEnd type="triangle" w="med" len="med"/>
          </a:ln>
        </p:spPr>
      </p:cxnSp>
      <p:cxnSp>
        <p:nvCxnSpPr>
          <p:cNvPr id="12" name="Arrow 12"/>
          <p:cNvCxnSpPr/>
          <p:nvPr/>
        </p:nvCxnSpPr>
        <p:spPr>
          <a:xfrm flipH="0" flipV="0">
            <a:off x="6263640" y="3657600"/>
            <a:ext cx="548640" cy="1"/>
          </a:xfrm>
          <a:prstGeom prst="straightConnector1">
            <a:avLst/>
          </a:prstGeom>
          <a:ln w="31750" cap="rnd">
            <a:solidFill>
              <a:srgbClr val="A78BFA"/>
            </a:solidFill>
            <a:headEnd type="triangle" w="med" len="med"/>
          </a:ln>
        </p:spPr>
      </p:cxnSp>
      <p:cxnSp>
        <p:nvCxnSpPr>
          <p:cNvPr id="13" name="Arrow 13"/>
          <p:cNvCxnSpPr/>
          <p:nvPr/>
        </p:nvCxnSpPr>
        <p:spPr>
          <a:xfrm flipH="0" flipV="0">
            <a:off x="8915400" y="3657600"/>
            <a:ext cx="457200" cy="1"/>
          </a:xfrm>
          <a:prstGeom prst="straightConnector1">
            <a:avLst/>
          </a:prstGeom>
          <a:ln w="31750" cap="rnd">
            <a:solidFill>
              <a:srgbClr val="A78BFA"/>
            </a:solidFill>
            <a:headEnd type="triangle" w="med" len="med"/>
          </a:ln>
        </p:spPr>
      </p:cxnSp>
      <p:sp>
        <p:nvSpPr>
          <p:cNvPr id="14" name="Shape 14"/>
          <p:cNvSpPr txBox="1"/>
          <p:nvPr/>
        </p:nvSpPr>
        <p:spPr>
          <a:xfrm>
            <a:off x="9601200" y="4343400"/>
            <a:ext cx="1463040" cy="320040"/>
          </a:xfrm>
          <a:prstGeom prst="rect">
            <a:avLst/>
          </a:prstGeom>
          <a:noFill/>
          <a:ln w="19050"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400" b="1">
                <a:solidFill>
                  <a:srgbClr val="BBF7D0"/>
                </a:solidFill>
                <a:latin typeface="Aptos"/>
              </a:rPr>
              <a:t>typed EQL domains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 w="19050"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F8FAFC"/>
                </a:solidFill>
                <a:latin typeface="Aptos Display"/>
              </a:rPr>
              <a:t>Operational Flow Example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658368" y="960120"/>
            <a:ext cx="5486400" cy="320040"/>
          </a:xfrm>
          <a:prstGeom prst="rect">
            <a:avLst/>
          </a:prstGeom>
          <a:noFill/>
          <a:ln w="19050"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1">
                <a:solidFill>
                  <a:srgbClr val="67E8F9"/>
                </a:solidFill>
                <a:latin typeface="Aptos"/>
              </a:rPr>
              <a:t>"pick up the red mug from the counter"</a:t>
            </a:r>
          </a:p>
        </p:txBody>
      </p:sp>
      <p:sp>
        <p:nvSpPr>
          <p:cNvPr id="5" name="Block 5"/>
          <p:cNvSpPr/>
          <p:nvPr/>
        </p:nvSpPr>
        <p:spPr>
          <a:xfrm>
            <a:off x="777240" y="2057400"/>
            <a:ext cx="1783080" cy="132588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1. Parse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pickup intent
red mug
counter</a:t>
            </a:r>
          </a:p>
        </p:txBody>
      </p:sp>
      <p:sp>
        <p:nvSpPr>
          <p:cNvPr id="6" name="Block 6"/>
          <p:cNvSpPr/>
          <p:nvPr/>
        </p:nvSpPr>
        <p:spPr>
          <a:xfrm>
            <a:off x="3063240" y="2057400"/>
            <a:ext cx="1783080" cy="13258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2. Resolve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find mug candidate
confirm support surface</a:t>
            </a:r>
          </a:p>
        </p:txBody>
      </p:sp>
      <p:sp>
        <p:nvSpPr>
          <p:cNvPr id="7" name="Block 7"/>
          <p:cNvSpPr/>
          <p:nvPr/>
        </p:nvSpPr>
        <p:spPr>
          <a:xfrm>
            <a:off x="5349240" y="2057400"/>
            <a:ext cx="1783080" cy="132588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3. Ground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bind world objects
and object references</a:t>
            </a:r>
          </a:p>
        </p:txBody>
      </p:sp>
      <p:sp>
        <p:nvSpPr>
          <p:cNvPr id="8" name="Block 8"/>
          <p:cNvSpPr/>
          <p:nvPr/>
        </p:nvSpPr>
        <p:spPr>
          <a:xfrm>
            <a:off x="7635240" y="2057400"/>
            <a:ext cx="1783080" cy="132588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4. Build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construct executable
pickup action</a:t>
            </a:r>
          </a:p>
        </p:txBody>
      </p:sp>
      <p:sp>
        <p:nvSpPr>
          <p:cNvPr id="9" name="Block 9"/>
          <p:cNvSpPr/>
          <p:nvPr/>
        </p:nvSpPr>
        <p:spPr>
          <a:xfrm>
            <a:off x="9921240" y="2057400"/>
            <a:ext cx="1783080" cy="132588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5. Reason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generate queryable
semantic entities</a:t>
            </a:r>
          </a:p>
        </p:txBody>
      </p:sp>
      <p:cxnSp>
        <p:nvCxnSpPr>
          <p:cNvPr id="20" name="Arrow 20"/>
          <p:cNvCxnSpPr/>
          <p:nvPr/>
        </p:nvCxnSpPr>
        <p:spPr>
          <a:xfrm flipH="0" flipV="0">
            <a:off x="2560320" y="2715768"/>
            <a:ext cx="411480" cy="1"/>
          </a:xfrm>
          <a:prstGeom prst="straightConnector1">
            <a:avLst/>
          </a:prstGeom>
          <a:ln w="31750" cap="rnd">
            <a:solidFill>
              <a:srgbClr val="38BDF8"/>
            </a:solidFill>
            <a:headEnd type="triangle" w="med" len="med"/>
          </a:ln>
        </p:spPr>
      </p:cxnSp>
      <p:cxnSp>
        <p:nvCxnSpPr>
          <p:cNvPr id="21" name="Arrow 21"/>
          <p:cNvCxnSpPr/>
          <p:nvPr/>
        </p:nvCxnSpPr>
        <p:spPr>
          <a:xfrm flipH="0" flipV="0">
            <a:off x="4846320" y="2715768"/>
            <a:ext cx="411480" cy="1"/>
          </a:xfrm>
          <a:prstGeom prst="straightConnector1">
            <a:avLst/>
          </a:prstGeom>
          <a:ln w="31750" cap="rnd">
            <a:solidFill>
              <a:srgbClr val="38BDF8"/>
            </a:solidFill>
            <a:headEnd type="triangle" w="med" len="med"/>
          </a:ln>
        </p:spPr>
      </p:cxnSp>
      <p:cxnSp>
        <p:nvCxnSpPr>
          <p:cNvPr id="22" name="Arrow 22"/>
          <p:cNvCxnSpPr/>
          <p:nvPr/>
        </p:nvCxnSpPr>
        <p:spPr>
          <a:xfrm flipH="0" flipV="0">
            <a:off x="7132320" y="2715768"/>
            <a:ext cx="411480" cy="1"/>
          </a:xfrm>
          <a:prstGeom prst="straightConnector1">
            <a:avLst/>
          </a:prstGeom>
          <a:ln w="31750" cap="rnd">
            <a:solidFill>
              <a:srgbClr val="38BDF8"/>
            </a:solidFill>
            <a:headEnd type="triangle" w="med" len="med"/>
          </a:ln>
        </p:spPr>
      </p:cxnSp>
      <p:cxnSp>
        <p:nvCxnSpPr>
          <p:cNvPr id="23" name="Arrow 23"/>
          <p:cNvCxnSpPr/>
          <p:nvPr/>
        </p:nvCxnSpPr>
        <p:spPr>
          <a:xfrm flipH="0" flipV="0">
            <a:off x="9418319" y="2715768"/>
            <a:ext cx="411481" cy="1"/>
          </a:xfrm>
          <a:prstGeom prst="straightConnector1">
            <a:avLst/>
          </a:prstGeom>
          <a:ln w="31750" cap="rnd">
            <a:solidFill>
              <a:srgbClr val="38BDF8"/>
            </a:solidFill>
            <a:headEnd type="triangle" w="med" len="med"/>
          </a:ln>
        </p:spPr>
      </p:cxnSp>
      <p:sp>
        <p:nvSpPr>
          <p:cNvPr id="30" name="Card 30"/>
          <p:cNvSpPr/>
          <p:nvPr/>
        </p:nvSpPr>
        <p:spPr>
          <a:xfrm>
            <a:off x="1097280" y="4160520"/>
            <a:ext cx="4389120" cy="1325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6A34A"/>
            </a:solidFill>
          </a:ln>
        </p:spPr>
        <p:txBody>
          <a:bodyPr wrap="square" lIns="114300" tIns="91440" rIns="114300" bIns="91440"/>
          <a:lstStyle/>
          <a:p>
            <a:pPr algn="l"/>
            <a:r>
              <a:rPr lang="en-US" sz="2100" b="1">
                <a:solidFill>
                  <a:srgbClr val="F8FAFC"/>
                </a:solidFill>
                <a:latin typeface="Aptos Display"/>
              </a:rPr>
              <a:t>Robot-side outcome</a:t>
            </a:r>
          </a:p>
          <a:p>
            <a:pPr algn="l" marL="0"/>
            <a:r>
              <a:rPr lang="en-US" sz="1300">
                <a:solidFill>
                  <a:srgbClr val="CBD5E1"/>
                </a:solidFill>
                <a:latin typeface="Aptos"/>
              </a:rPr>
              <a:t>A concrete action object with resolved world references and action parameters.</a:t>
            </a:r>
          </a:p>
        </p:txBody>
      </p:sp>
      <p:sp>
        <p:nvSpPr>
          <p:cNvPr id="31" name="Card 31"/>
          <p:cNvSpPr/>
          <p:nvPr/>
        </p:nvSpPr>
        <p:spPr>
          <a:xfrm>
            <a:off x="6400800" y="4160520"/>
            <a:ext cx="4389120" cy="1325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7C3AED"/>
            </a:solidFill>
          </a:ln>
        </p:spPr>
        <p:txBody>
          <a:bodyPr wrap="square" lIns="114300" tIns="91440" rIns="114300" bIns="91440"/>
          <a:lstStyle/>
          <a:p>
            <a:pPr algn="l"/>
            <a:r>
              <a:rPr lang="en-US" sz="2100" b="1">
                <a:solidFill>
                  <a:srgbClr val="F8FAFC"/>
                </a:solidFill>
                <a:latin typeface="Aptos Display"/>
              </a:rPr>
              <a:t>Semantic-side outcome</a:t>
            </a:r>
          </a:p>
          <a:p>
            <a:pPr algn="l" marL="0"/>
            <a:r>
              <a:rPr lang="en-US" sz="1300">
                <a:solidFill>
                  <a:srgbClr val="CBD5E1"/>
                </a:solidFill>
                <a:latin typeface="Aptos"/>
              </a:rPr>
              <a:t>Frame / role and plan / phase structures remain available for EQL queries and presentation views.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 w="19050"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F8FAFC"/>
                </a:solidFill>
                <a:latin typeface="Aptos Display"/>
              </a:rPr>
              <a:t>sg_model Entity Structure</a:t>
            </a:r>
          </a:p>
        </p:txBody>
      </p:sp>
      <p:sp>
        <p:nvSpPr>
          <p:cNvPr id="4" name="Block 4"/>
          <p:cNvSpPr/>
          <p:nvPr/>
        </p:nvSpPr>
        <p:spPr>
          <a:xfrm>
            <a:off x="1920240" y="1005840"/>
            <a:ext cx="1828800" cy="86868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Instruction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shared anchor</a:t>
            </a:r>
          </a:p>
        </p:txBody>
      </p:sp>
      <p:sp>
        <p:nvSpPr>
          <p:cNvPr id="5" name="Block 5"/>
          <p:cNvSpPr/>
          <p:nvPr/>
        </p:nvSpPr>
        <p:spPr>
          <a:xfrm>
            <a:off x="4160520" y="1005840"/>
            <a:ext cx="1828800" cy="86868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Action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shared anchor</a:t>
            </a:r>
          </a:p>
        </p:txBody>
      </p:sp>
      <p:sp>
        <p:nvSpPr>
          <p:cNvPr id="6" name="Block 6"/>
          <p:cNvSpPr/>
          <p:nvPr/>
        </p:nvSpPr>
        <p:spPr>
          <a:xfrm>
            <a:off x="6400800" y="1005840"/>
            <a:ext cx="1828800" cy="86868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ReasonerRun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provenance anchor</a:t>
            </a:r>
          </a:p>
        </p:txBody>
      </p:sp>
      <p:sp>
        <p:nvSpPr>
          <p:cNvPr id="7" name="Block 7"/>
          <p:cNvSpPr/>
          <p:nvPr/>
        </p:nvSpPr>
        <p:spPr>
          <a:xfrm>
            <a:off x="1005840" y="2423160"/>
            <a:ext cx="2103120" cy="8686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FrameClaim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FrameNet view</a:t>
            </a:r>
          </a:p>
        </p:txBody>
      </p:sp>
      <p:sp>
        <p:nvSpPr>
          <p:cNvPr id="8" name="Block 8"/>
          <p:cNvSpPr/>
          <p:nvPr/>
        </p:nvSpPr>
        <p:spPr>
          <a:xfrm>
            <a:off x="1005840" y="3886200"/>
            <a:ext cx="2103120" cy="86868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RoleClaim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groundable arguments</a:t>
            </a:r>
          </a:p>
        </p:txBody>
      </p:sp>
      <p:sp>
        <p:nvSpPr>
          <p:cNvPr id="9" name="Block 9"/>
          <p:cNvSpPr/>
          <p:nvPr/>
        </p:nvSpPr>
        <p:spPr>
          <a:xfrm>
            <a:off x="4617720" y="2423160"/>
            <a:ext cx="2103120" cy="86868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PlanClaim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Flanagan view</a:t>
            </a:r>
          </a:p>
        </p:txBody>
      </p:sp>
      <p:sp>
        <p:nvSpPr>
          <p:cNvPr id="10" name="Block 10"/>
          <p:cNvSpPr/>
          <p:nvPr/>
        </p:nvSpPr>
        <p:spPr>
          <a:xfrm>
            <a:off x="4617720" y="3886200"/>
            <a:ext cx="2103120" cy="868680"/>
          </a:xfrm>
          <a:prstGeom prst="roundRect">
            <a:avLst/>
          </a:prstGeom>
          <a:solidFill>
            <a:srgbClr val="15803D"/>
          </a:solidFill>
          <a:ln w="12700">
            <a:solidFill>
              <a:srgbClr val="15803D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PhaseClaim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ordered plan phases</a:t>
            </a:r>
          </a:p>
        </p:txBody>
      </p:sp>
      <p:sp>
        <p:nvSpPr>
          <p:cNvPr id="11" name="Block 11"/>
          <p:cNvSpPr/>
          <p:nvPr/>
        </p:nvSpPr>
        <p:spPr>
          <a:xfrm>
            <a:off x="7909560" y="2743200"/>
            <a:ext cx="1188720" cy="6858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Precondition</a:t>
            </a:r>
          </a:p>
        </p:txBody>
      </p:sp>
      <p:sp>
        <p:nvSpPr>
          <p:cNvPr id="12" name="Block 12"/>
          <p:cNvSpPr/>
          <p:nvPr/>
        </p:nvSpPr>
        <p:spPr>
          <a:xfrm>
            <a:off x="9281160" y="2743200"/>
            <a:ext cx="1188720" cy="6858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Goal</a:t>
            </a:r>
          </a:p>
        </p:txBody>
      </p:sp>
      <p:sp>
        <p:nvSpPr>
          <p:cNvPr id="13" name="Block 13"/>
          <p:cNvSpPr/>
          <p:nvPr/>
        </p:nvSpPr>
        <p:spPr>
          <a:xfrm>
            <a:off x="7909560" y="4069080"/>
            <a:ext cx="1188720" cy="68580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Failure</a:t>
            </a:r>
          </a:p>
        </p:txBody>
      </p:sp>
      <p:sp>
        <p:nvSpPr>
          <p:cNvPr id="14" name="Block 14"/>
          <p:cNvSpPr/>
          <p:nvPr/>
        </p:nvSpPr>
        <p:spPr>
          <a:xfrm>
            <a:off x="9281160" y="4069080"/>
            <a:ext cx="1188720" cy="68580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Recovery</a:t>
            </a:r>
          </a:p>
        </p:txBody>
      </p:sp>
      <p:cxnSp>
        <p:nvCxnSpPr>
          <p:cNvPr id="20" name="Arrow 20"/>
          <p:cNvCxnSpPr/>
          <p:nvPr/>
        </p:nvCxnSpPr>
        <p:spPr>
          <a:xfrm flipH="1" flipV="0">
            <a:off x="2057400" y="1874519"/>
            <a:ext cx="777240" cy="502921"/>
          </a:xfrm>
          <a:prstGeom prst="straightConnector1">
            <a:avLst/>
          </a:prstGeom>
          <a:ln w="31750" cap="rnd">
            <a:solidFill>
              <a:srgbClr val="94A3B8"/>
            </a:solidFill>
            <a:headEnd type="triangle" w="med" len="med"/>
          </a:ln>
        </p:spPr>
      </p:cxnSp>
      <p:cxnSp>
        <p:nvCxnSpPr>
          <p:cNvPr id="21" name="Arrow 21"/>
          <p:cNvCxnSpPr/>
          <p:nvPr/>
        </p:nvCxnSpPr>
        <p:spPr>
          <a:xfrm flipH="1" flipV="0">
            <a:off x="2057400" y="1874519"/>
            <a:ext cx="3017520" cy="502921"/>
          </a:xfrm>
          <a:prstGeom prst="straightConnector1">
            <a:avLst/>
          </a:prstGeom>
          <a:ln w="31750" cap="rnd">
            <a:solidFill>
              <a:srgbClr val="94A3B8"/>
            </a:solidFill>
            <a:headEnd type="triangle" w="med" len="med"/>
          </a:ln>
        </p:spPr>
      </p:cxnSp>
      <p:cxnSp>
        <p:nvCxnSpPr>
          <p:cNvPr id="22" name="Arrow 22"/>
          <p:cNvCxnSpPr/>
          <p:nvPr/>
        </p:nvCxnSpPr>
        <p:spPr>
          <a:xfrm flipH="1" flipV="0">
            <a:off x="2057400" y="1874519"/>
            <a:ext cx="5257800" cy="502921"/>
          </a:xfrm>
          <a:prstGeom prst="straightConnector1">
            <a:avLst/>
          </a:prstGeom>
          <a:ln w="31750" cap="rnd">
            <a:solidFill>
              <a:srgbClr val="94A3B8"/>
            </a:solidFill>
            <a:headEnd type="triangle" w="med" len="med"/>
          </a:ln>
        </p:spPr>
      </p:cxnSp>
      <p:cxnSp>
        <p:nvCxnSpPr>
          <p:cNvPr id="23" name="Arrow 23"/>
          <p:cNvCxnSpPr/>
          <p:nvPr/>
        </p:nvCxnSpPr>
        <p:spPr>
          <a:xfrm flipH="0" flipV="0">
            <a:off x="2834640" y="1874519"/>
            <a:ext cx="2788920" cy="502921"/>
          </a:xfrm>
          <a:prstGeom prst="straightConnector1">
            <a:avLst/>
          </a:prstGeom>
          <a:ln w="31750" cap="rnd">
            <a:solidFill>
              <a:srgbClr val="94A3B8"/>
            </a:solidFill>
            <a:headEnd type="triangle" w="med" len="med"/>
          </a:ln>
        </p:spPr>
      </p:cxnSp>
      <p:cxnSp>
        <p:nvCxnSpPr>
          <p:cNvPr id="24" name="Arrow 24"/>
          <p:cNvCxnSpPr/>
          <p:nvPr/>
        </p:nvCxnSpPr>
        <p:spPr>
          <a:xfrm flipH="0" flipV="0">
            <a:off x="5074920" y="1874519"/>
            <a:ext cx="548640" cy="502921"/>
          </a:xfrm>
          <a:prstGeom prst="straightConnector1">
            <a:avLst/>
          </a:prstGeom>
          <a:ln w="31750" cap="rnd">
            <a:solidFill>
              <a:srgbClr val="94A3B8"/>
            </a:solidFill>
            <a:headEnd type="triangle" w="med" len="med"/>
          </a:ln>
        </p:spPr>
      </p:cxnSp>
      <p:cxnSp>
        <p:nvCxnSpPr>
          <p:cNvPr id="25" name="Arrow 25"/>
          <p:cNvCxnSpPr/>
          <p:nvPr/>
        </p:nvCxnSpPr>
        <p:spPr>
          <a:xfrm flipH="1" flipV="0">
            <a:off x="5623560" y="1874519"/>
            <a:ext cx="1691640" cy="502921"/>
          </a:xfrm>
          <a:prstGeom prst="straightConnector1">
            <a:avLst/>
          </a:prstGeom>
          <a:ln w="31750" cap="rnd">
            <a:solidFill>
              <a:srgbClr val="94A3B8"/>
            </a:solidFill>
            <a:headEnd type="triangle" w="med" len="med"/>
          </a:ln>
        </p:spPr>
      </p:cxnSp>
      <p:cxnSp>
        <p:nvCxnSpPr>
          <p:cNvPr id="26" name="Arrow 26"/>
          <p:cNvCxnSpPr/>
          <p:nvPr/>
        </p:nvCxnSpPr>
        <p:spPr>
          <a:xfrm flipH="0" flipV="0">
            <a:off x="2057400" y="3291840"/>
            <a:ext cx="1" cy="548640"/>
          </a:xfrm>
          <a:prstGeom prst="straightConnector1">
            <a:avLst/>
          </a:prstGeom>
          <a:ln w="31750" cap="rnd">
            <a:solidFill>
              <a:srgbClr val="60A5FA"/>
            </a:solidFill>
            <a:headEnd type="triangle" w="med" len="med"/>
          </a:ln>
        </p:spPr>
      </p:cxnSp>
      <p:cxnSp>
        <p:nvCxnSpPr>
          <p:cNvPr id="27" name="Arrow 27"/>
          <p:cNvCxnSpPr/>
          <p:nvPr/>
        </p:nvCxnSpPr>
        <p:spPr>
          <a:xfrm flipH="0" flipV="0">
            <a:off x="5623560" y="3291840"/>
            <a:ext cx="1" cy="548640"/>
          </a:xfrm>
          <a:prstGeom prst="straightConnector1">
            <a:avLst/>
          </a:prstGeom>
          <a:ln w="31750" cap="rnd">
            <a:solidFill>
              <a:srgbClr val="4ADE80"/>
            </a:solidFill>
            <a:headEnd type="triangle" w="med" len="med"/>
          </a:ln>
        </p:spPr>
      </p:cxnSp>
      <p:cxnSp>
        <p:nvCxnSpPr>
          <p:cNvPr id="28" name="Arrow 28"/>
          <p:cNvCxnSpPr/>
          <p:nvPr/>
        </p:nvCxnSpPr>
        <p:spPr>
          <a:xfrm flipH="0" flipV="1">
            <a:off x="6766560" y="3063240"/>
            <a:ext cx="1097280" cy="1234440"/>
          </a:xfrm>
          <a:prstGeom prst="straightConnector1">
            <a:avLst/>
          </a:prstGeom>
          <a:ln w="31750" cap="rnd">
            <a:solidFill>
              <a:srgbClr val="4ADE80"/>
            </a:solidFill>
            <a:headEnd type="triangle" w="med" len="med"/>
          </a:ln>
        </p:spPr>
      </p:cxnSp>
      <p:cxnSp>
        <p:nvCxnSpPr>
          <p:cNvPr id="29" name="Arrow 29"/>
          <p:cNvCxnSpPr/>
          <p:nvPr/>
        </p:nvCxnSpPr>
        <p:spPr>
          <a:xfrm flipH="0" flipV="1">
            <a:off x="6766560" y="3063240"/>
            <a:ext cx="2468880" cy="1234440"/>
          </a:xfrm>
          <a:prstGeom prst="straightConnector1">
            <a:avLst/>
          </a:prstGeom>
          <a:ln w="31750" cap="rnd">
            <a:solidFill>
              <a:srgbClr val="4ADE80"/>
            </a:solidFill>
            <a:headEnd type="triangle" w="med" len="med"/>
          </a:ln>
        </p:spPr>
      </p:cxnSp>
      <p:cxnSp>
        <p:nvCxnSpPr>
          <p:cNvPr id="30" name="Arrow 30"/>
          <p:cNvCxnSpPr/>
          <p:nvPr/>
        </p:nvCxnSpPr>
        <p:spPr>
          <a:xfrm flipH="0" flipV="0">
            <a:off x="6766560" y="4297680"/>
            <a:ext cx="1097280" cy="91440"/>
          </a:xfrm>
          <a:prstGeom prst="straightConnector1">
            <a:avLst/>
          </a:prstGeom>
          <a:ln w="31750" cap="rnd">
            <a:solidFill>
              <a:srgbClr val="4ADE80"/>
            </a:solidFill>
            <a:headEnd type="triangle" w="med" len="med"/>
          </a:ln>
        </p:spPr>
      </p:cxnSp>
      <p:cxnSp>
        <p:nvCxnSpPr>
          <p:cNvPr id="31" name="Arrow 31"/>
          <p:cNvCxnSpPr/>
          <p:nvPr/>
        </p:nvCxnSpPr>
        <p:spPr>
          <a:xfrm flipH="0" flipV="0">
            <a:off x="6766560" y="4297680"/>
            <a:ext cx="2468880" cy="91440"/>
          </a:xfrm>
          <a:prstGeom prst="straightConnector1">
            <a:avLst/>
          </a:prstGeom>
          <a:ln w="31750" cap="rnd">
            <a:solidFill>
              <a:srgbClr val="4ADE80"/>
            </a:solidFill>
            <a:headEnd type="triangle" w="med" len="med"/>
          </a:ln>
        </p:spPr>
      </p:cxnSp>
      <p:sp>
        <p:nvSpPr>
          <p:cNvPr id="32" name="Shape 32"/>
          <p:cNvSpPr txBox="1"/>
          <p:nvPr/>
        </p:nvSpPr>
        <p:spPr>
          <a:xfrm>
            <a:off x="7543800" y="1143000"/>
            <a:ext cx="3566160" cy="640080"/>
          </a:xfrm>
          <a:prstGeom prst="rect">
            <a:avLst/>
          </a:prstGeom>
          <a:noFill/>
          <a:ln w="19050"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400" b="1">
                <a:solidFill>
                  <a:srgbClr val="BBF7D0"/>
                </a:solidFill>
                <a:latin typeface="Aptos"/>
              </a:rPr>
              <a:t>Core semantics live as direct object references.</a:t>
            </a:r>
          </a:p>
          <a:p>
            <a:pPr algn="ctr"/>
            <a:r>
              <a:rPr lang="en-US" sz="1400" b="1">
                <a:solidFill>
                  <a:srgbClr val="BBF7D0"/>
                </a:solidFill>
                <a:latin typeface="Aptos"/>
              </a:rPr>
              <a:t>The graph view is generated later only for presentation.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 w="19050"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F8FAFC"/>
                </a:solidFill>
                <a:latin typeface="Aptos Display"/>
              </a:rPr>
              <a:t>What You Can Ask With EQL</a:t>
            </a:r>
          </a:p>
        </p:txBody>
      </p:sp>
      <p:sp>
        <p:nvSpPr>
          <p:cNvPr id="4" name="Card 4"/>
          <p:cNvSpPr/>
          <p:nvPr/>
        </p:nvSpPr>
        <p:spPr>
          <a:xfrm>
            <a:off x="822960" y="1371600"/>
            <a:ext cx="3383280" cy="3566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</p:spPr>
        <p:txBody>
          <a:bodyPr wrap="square" lIns="114300" tIns="91440" rIns="114300" bIns="91440"/>
          <a:lstStyle/>
          <a:p>
            <a:pPr algn="l"/>
            <a:r>
              <a:rPr lang="en-US" sz="2100" b="1">
                <a:solidFill>
                  <a:srgbClr val="F8FAFC"/>
                </a:solidFill>
                <a:latin typeface="Aptos Display"/>
              </a:rPr>
              <a:t>FrameNet Queries</a:t>
            </a:r>
          </a:p>
          <a:p>
            <a:pPr algn="l" marL="0"/>
            <a:r>
              <a:rPr lang="en-US" sz="1300">
                <a:solidFill>
                  <a:srgbClr val="CBD5E1"/>
                </a:solidFill>
                <a:latin typeface="Aptos"/>
              </a:rPr>
              <a:t>Which role is grounded to the mug?</a:t>
            </a:r>
          </a:p>
          <a:p>
            <a:pPr algn="l" marL="0"/>
            <a:r>
              <a:rPr lang="en-US" sz="1300">
                <a:solidFill>
                  <a:srgbClr val="CBD5E1"/>
                </a:solidFill>
                <a:latin typeface="Aptos"/>
              </a:rPr>
              <a:t>Which frame was evoked for pickup?</a:t>
            </a:r>
          </a:p>
          <a:p>
            <a:pPr algn="l" marL="0"/>
            <a:r>
              <a:rPr lang="en-US" sz="1300">
                <a:solidFill>
                  <a:srgbClr val="CBD5E1"/>
                </a:solidFill>
                <a:latin typeface="Aptos"/>
              </a:rPr>
              <a:t>Which roles are still hypothetical?</a:t>
            </a:r>
          </a:p>
        </p:txBody>
      </p:sp>
      <p:sp>
        <p:nvSpPr>
          <p:cNvPr id="5" name="Card 5"/>
          <p:cNvSpPr/>
          <p:nvPr/>
        </p:nvSpPr>
        <p:spPr>
          <a:xfrm>
            <a:off x="4434840" y="1371600"/>
            <a:ext cx="3383280" cy="3566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6A34A"/>
            </a:solidFill>
          </a:ln>
        </p:spPr>
        <p:txBody>
          <a:bodyPr wrap="square" lIns="114300" tIns="91440" rIns="114300" bIns="91440"/>
          <a:lstStyle/>
          <a:p>
            <a:pPr algn="l"/>
            <a:r>
              <a:rPr lang="en-US" sz="2100" b="1">
                <a:solidFill>
                  <a:srgbClr val="F8FAFC"/>
                </a:solidFill>
                <a:latin typeface="Aptos Display"/>
              </a:rPr>
              <a:t>Flanagan Queries</a:t>
            </a:r>
          </a:p>
          <a:p>
            <a:pPr algn="l" marL="0"/>
            <a:r>
              <a:rPr lang="en-US" sz="1300">
                <a:solidFill>
                  <a:srgbClr val="CBD5E1"/>
                </a:solidFill>
                <a:latin typeface="Aptos"/>
              </a:rPr>
              <a:t>Which phases mention slip?</a:t>
            </a:r>
          </a:p>
          <a:p>
            <a:pPr algn="l" marL="0"/>
            <a:r>
              <a:rPr lang="en-US" sz="1300">
                <a:solidFill>
                  <a:srgbClr val="CBD5E1"/>
                </a:solidFill>
                <a:latin typeface="Aptos"/>
              </a:rPr>
              <a:t>Which recoveries follow grasp failures?</a:t>
            </a:r>
          </a:p>
          <a:p>
            <a:pPr algn="l" marL="0"/>
            <a:r>
              <a:rPr lang="en-US" sz="1300">
                <a:solidFill>
                  <a:srgbClr val="CBD5E1"/>
                </a:solidFill>
                <a:latin typeface="Aptos"/>
              </a:rPr>
              <a:t>Which preconditions recur across plans?</a:t>
            </a:r>
          </a:p>
        </p:txBody>
      </p:sp>
      <p:sp>
        <p:nvSpPr>
          <p:cNvPr id="6" name="Card 6"/>
          <p:cNvSpPr/>
          <p:nvPr/>
        </p:nvSpPr>
        <p:spPr>
          <a:xfrm>
            <a:off x="8046720" y="1371600"/>
            <a:ext cx="3383280" cy="3566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7C3AED"/>
            </a:solidFill>
          </a:ln>
        </p:spPr>
        <p:txBody>
          <a:bodyPr wrap="square" lIns="114300" tIns="91440" rIns="114300" bIns="91440"/>
          <a:lstStyle/>
          <a:p>
            <a:pPr algn="l"/>
            <a:r>
              <a:rPr lang="en-US" sz="2100" b="1">
                <a:solidFill>
                  <a:srgbClr val="F8FAFC"/>
                </a:solidFill>
                <a:latin typeface="Aptos Display"/>
              </a:rPr>
              <a:t>Cross-Family Queries</a:t>
            </a:r>
          </a:p>
          <a:p>
            <a:pPr algn="l" marL="0"/>
            <a:r>
              <a:rPr lang="en-US" sz="1300">
                <a:solidFill>
                  <a:srgbClr val="CBD5E1"/>
                </a:solidFill>
                <a:latin typeface="Aptos"/>
              </a:rPr>
              <a:t>Does the grounded FrameNet theme match the plan target object?</a:t>
            </a:r>
          </a:p>
          <a:p>
            <a:pPr algn="l" marL="0"/>
            <a:r>
              <a:rPr lang="en-US" sz="1300">
                <a:solidFill>
                  <a:srgbClr val="CBD5E1"/>
                </a:solidFill>
                <a:latin typeface="Aptos"/>
              </a:rPr>
              <a:t>Which semantic views disagree about the same action context?</a:t>
            </a:r>
          </a:p>
        </p:txBody>
      </p:sp>
      <p:sp>
        <p:nvSpPr>
          <p:cNvPr id="7" name="Block 7"/>
          <p:cNvSpPr/>
          <p:nvPr/>
        </p:nvSpPr>
        <p:spPr>
          <a:xfrm>
            <a:off x="3246120" y="5303520"/>
            <a:ext cx="5394960" cy="685800"/>
          </a:xfrm>
          <a:prstGeom prst="roundRect">
            <a:avLst/>
          </a:prstGeom>
          <a:solidFill>
            <a:srgbClr val="DB2777"/>
          </a:solidFill>
          <a:ln w="12700">
            <a:solidFill>
              <a:srgbClr val="DB2777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sg_model gives you execution-aligned semantics that stay queryable after planning.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 w="19050"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F8FAFC"/>
                </a:solidFill>
                <a:latin typeface="Aptos Display"/>
              </a:rPr>
              <a:t>Design Takeaway</a:t>
            </a:r>
          </a:p>
        </p:txBody>
      </p:sp>
      <p:sp>
        <p:nvSpPr>
          <p:cNvPr id="4" name="Block 4"/>
          <p:cNvSpPr/>
          <p:nvPr/>
        </p:nvSpPr>
        <p:spPr>
          <a:xfrm>
            <a:off x="1005840" y="1645920"/>
            <a:ext cx="2926080" cy="2377440"/>
          </a:xfrm>
          <a:prstGeom prst="roundRect">
            <a:avLst/>
          </a:prstGeom>
          <a:solidFill>
            <a:srgbClr val="7F1D1D"/>
          </a:solidFill>
          <a:ln w="12700">
            <a:solidFill>
              <a:srgbClr val="7F1D1D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Old mental model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semantic relations live as edges
and are queried through topology</a:t>
            </a:r>
          </a:p>
        </p:txBody>
      </p:sp>
      <p:sp>
        <p:nvSpPr>
          <p:cNvPr id="5" name="Block 5"/>
          <p:cNvSpPr/>
          <p:nvPr/>
        </p:nvSpPr>
        <p:spPr>
          <a:xfrm>
            <a:off x="4617720" y="1645920"/>
            <a:ext cx="2926080" cy="2377440"/>
          </a:xfrm>
          <a:prstGeom prst="roundRect">
            <a:avLst/>
          </a:prstGeom>
          <a:solidFill>
            <a:srgbClr val="166534"/>
          </a:solidFill>
          <a:ln w="12700">
            <a:solidFill>
              <a:srgbClr val="166534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New mental model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semantic entities hold direct references
and EQL ranges over typed object domains</a:t>
            </a:r>
          </a:p>
        </p:txBody>
      </p:sp>
      <p:sp>
        <p:nvSpPr>
          <p:cNvPr id="6" name="Block 6"/>
          <p:cNvSpPr/>
          <p:nvPr/>
        </p:nvSpPr>
        <p:spPr>
          <a:xfrm>
            <a:off x="8229600" y="1645920"/>
            <a:ext cx="2560320" cy="237744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 Display"/>
              </a:rPr>
              <a:t>Result</a:t>
            </a:r>
          </a:p>
          <a:p>
            <a:pPr algn="ctr"/>
            <a:r>
              <a:rPr lang="en-US" sz="1300">
                <a:solidFill>
                  <a:srgbClr val="DBEAFE"/>
                </a:solidFill>
                <a:latin typeface="Aptos"/>
              </a:rPr>
              <a:t>cleaner query semantics
pluggable reasoners
presentation graph when needed</a:t>
            </a:r>
          </a:p>
        </p:txBody>
      </p:sp>
      <p:cxnSp>
        <p:nvCxnSpPr>
          <p:cNvPr id="10" name="Arrow 10"/>
          <p:cNvCxnSpPr/>
          <p:nvPr/>
        </p:nvCxnSpPr>
        <p:spPr>
          <a:xfrm flipH="0" flipV="0">
            <a:off x="4023360" y="2834640"/>
            <a:ext cx="548640" cy="1"/>
          </a:xfrm>
          <a:prstGeom prst="straightConnector1">
            <a:avLst/>
          </a:prstGeom>
          <a:ln w="31750" cap="rnd">
            <a:solidFill>
              <a:srgbClr val="FCA5A5"/>
            </a:solidFill>
            <a:headEnd type="triangle" w="med" len="med"/>
          </a:ln>
        </p:spPr>
      </p:cxnSp>
      <p:cxnSp>
        <p:nvCxnSpPr>
          <p:cNvPr id="11" name="Arrow 11"/>
          <p:cNvCxnSpPr/>
          <p:nvPr/>
        </p:nvCxnSpPr>
        <p:spPr>
          <a:xfrm flipH="0" flipV="0">
            <a:off x="7589520" y="2834640"/>
            <a:ext cx="594359" cy="1"/>
          </a:xfrm>
          <a:prstGeom prst="straightConnector1">
            <a:avLst/>
          </a:prstGeom>
          <a:ln w="31750" cap="rnd">
            <a:solidFill>
              <a:srgbClr val="93C5FD"/>
            </a:solidFill>
            <a:headEnd type="triangle" w="med" len="med"/>
          </a:ln>
        </p:spPr>
      </p:cxnSp>
      <p:sp>
        <p:nvSpPr>
          <p:cNvPr id="12" name="Shape 12"/>
          <p:cNvSpPr txBox="1"/>
          <p:nvPr/>
        </p:nvSpPr>
        <p:spPr>
          <a:xfrm>
            <a:off x="1645920" y="4800600"/>
            <a:ext cx="8961120" cy="548640"/>
          </a:xfrm>
          <a:prstGeom prst="rect">
            <a:avLst/>
          </a:prstGeom>
          <a:noFill/>
          <a:ln w="19050"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2000" b="1">
                <a:solidFill>
                  <a:srgbClr val="E2E8F0"/>
                </a:solidFill>
                <a:latin typeface="Aptos"/>
              </a:rPr>
              <a:t>One backend orchestrates action execution and semantic generation from the same grounded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72A"/>
      </a:dk2>
      <a:lt2>
        <a:srgbClr val="E5E7EB"/>
      </a:lt2>
      <a:accent1>
        <a:srgbClr val="2563EB"/>
      </a:accent1>
      <a:accent2>
        <a:srgbClr val="7C3AED"/>
      </a:accent2>
      <a:accent3>
        <a:srgbClr val="16A34A"/>
      </a:accent3>
      <a:accent4>
        <a:srgbClr val="F59E0B"/>
      </a:accent4>
      <a:accent5>
        <a:srgbClr val="DB2777"/>
      </a:accent5>
      <a:accent6>
        <a:srgbClr val="0EA5E9"/>
      </a:accent6>
      <a:hlink>
        <a:srgbClr val="38BDF8"/>
      </a:hlink>
      <a:folHlink>
        <a:srgbClr val="C084FC"/>
      </a:folHlink>
    </a:clrScheme>
    <a:fontScheme name="Custom">
      <a:majorFont>
        <a:latin typeface="Aptos Display"/>
      </a:majorFont>
      <a:minorFont>
        <a:latin typeface="Aptos"/>
      </a:minorFont>
    </a:fontScheme>
    <a:fmtScheme name="Cust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Slides>6</Slides>
  <Notes>0</Notes>
  <HiddenSlides>0</HiddenSlides>
  <MMClips>0</MMClip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LLMR sg_model architecture</dc:title>
  <dc:creator>OpenAI Codex</dc:creator>
  <cp:lastModifiedBy>OpenAI Codex</cp:lastModifiedBy>
  <dcterms:created xsi:type="dcterms:W3CDTF">2026-04-29T00:00:00Z</dcterms:created>
  <dcterms:modified xsi:type="dcterms:W3CDTF">2026-04-29T00:00:00Z</dcterms:modified>
</cp:coreProperties>
</file>